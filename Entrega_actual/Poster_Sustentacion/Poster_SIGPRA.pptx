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399935" cy="4319991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jp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399935" cy="431999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399935" cy="164592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d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"/>
            <a:ext cx="5120640" cy="1224501"/>
          </a:xfrm>
          <a:prstGeom prst="rect">
            <a:avLst/>
          </a:prstGeom>
        </p:spPr>
      </p:pic>
      <p:pic>
        <p:nvPicPr>
          <p:cNvPr id="5" name="Picture 4" descr="img_4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0" y="320040"/>
            <a:ext cx="2011680" cy="13994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274320"/>
            <a:ext cx="22677120" cy="2011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3600" b="1">
                <a:solidFill>
                  <a:srgbClr val="004B87"/>
                </a:solidFill>
                <a:latin typeface="Arial"/>
              </a:defRPr>
            </a:pPr>
            <a:r>
              <a:t>SIGPRA: Software Integral de Gestión de Prácticas Académicas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222222"/>
                </a:solidFill>
                <a:latin typeface="Arial"/>
              </a:defRPr>
            </a:pPr>
            <a:r>
              <a:t>Jesús Daniel Rueda Castillo  ·  Alonso Andrés Henao Roa  ·  Rafael Fabián Carreño Barrera</a:t>
            </a:r>
          </a:p>
          <a:p>
            <a:pPr algn="ctr">
              <a:spcBef>
                <a:spcPts val="400"/>
              </a:spcBef>
              <a:defRPr sz="1700" i="1">
                <a:solidFill>
                  <a:srgbClr val="0072CE"/>
                </a:solidFill>
                <a:latin typeface="Arial"/>
              </a:defRPr>
            </a:pPr>
            <a:r>
              <a:t>Materias Integradas: Ingeniería del Software II · Programación III · Teoría General de Sistemas</a:t>
            </a:r>
          </a:p>
          <a:p>
            <a:pPr algn="ctr">
              <a:spcBef>
                <a:spcPts val="300"/>
              </a:spcBef>
              <a:defRPr sz="1500">
                <a:solidFill>
                  <a:srgbClr val="646464"/>
                </a:solidFill>
                <a:latin typeface="Arial"/>
              </a:defRPr>
            </a:pPr>
            <a:r>
              <a:t>Facultad de Ingenierías · Programa de Ingeniería de Sistemas · Universidad de Investigación y Desarrollo (UDI)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331720"/>
            <a:ext cx="30571135" cy="38404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PROYECTO INTEGRADOR V  —  DESARROLLO FULLSTACK CLOUD Y CUMPLIMIENTO DEL DECRETO 1075 DE 2015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34640"/>
            <a:ext cx="30571135" cy="2011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 bIns="182880"/>
          <a:lstStyle/>
          <a:p>
            <a:pPr algn="ctr">
              <a:defRPr sz="1800" b="1">
                <a:solidFill>
                  <a:srgbClr val="004B87"/>
                </a:solidFill>
                <a:latin typeface="Arial"/>
              </a:defRPr>
            </a:pPr>
            <a:r>
              <a:t>RESUMEN EJECUTIVO</a:t>
            </a:r>
          </a:p>
          <a:p>
            <a:pPr>
              <a:spcBef>
                <a:spcPts val="400"/>
              </a:spcBef>
              <a:defRPr sz="1400">
                <a:solidFill>
                  <a:srgbClr val="222222"/>
                </a:solidFill>
                <a:latin typeface="Arial"/>
              </a:defRPr>
            </a:pPr>
            <a:r>
              <a:t>El proyecto SIGPRA responde a la necesidad de sistematizar y garantizar la trazabilidad integral del ciclo de vida de las prácticas pedagógicas y académicas en la Universidad de Investigación y Desarrollo (UDI), dando cumplimiento estricto a los estándares exigidos por el Decreto 1075 de 2015 del Ministerio de Educación Nacional (MEN) y los procesos de acreditación de alta calidad del CNA. La solución evoluciona la gestión tradicional basada en formatos físicos y planillas aisladas hacia una plataforma web políglota y reactiva en la nube. La arquitectura desacopla una Single Page Application (SPA) responsiva en TypeScript y TailwindCSS de un backend RESTful en Node.js/Express, integrando un modelo de persistencia híbrido con PostgreSQL (Neon Cloud) para transacciones ACID relacionales y MongoDB (Atlas) para auditoría y bitácoras documentales. El sistema soporta 8 Casos de Uso estructurados (CU-01 a CU-08), control de acceso basado en roles (RBAC) para 4 actores, validación en tiempo real de 160 horas obligatorias, rúbricas cuantitativas y despliegue continuo en Render con certificación SSL/TLS.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29200"/>
            <a:ext cx="9701784" cy="8961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5029200"/>
            <a:ext cx="9701784" cy="502920"/>
          </a:xfrm>
          <a:prstGeom prst="round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1. INTRODUCCIÓN Y MARCO NORMATIVO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623560"/>
            <a:ext cx="9244584" cy="8275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04B87"/>
                </a:solidFill>
                <a:latin typeface="Arial"/>
              </a:defRPr>
            </a:pPr>
            <a:r>
              <a:t>Problemática Institucional</a:t>
            </a:r>
          </a:p>
          <a:p>
            <a:pPr>
              <a:spcBef>
                <a:spcPts val="300"/>
              </a:spcBef>
              <a:defRPr sz="1300">
                <a:solidFill>
                  <a:srgbClr val="222222"/>
                </a:solidFill>
                <a:latin typeface="Arial"/>
              </a:defRPr>
            </a:pPr>
            <a:r>
              <a:t>La práctica pedagógica en la formación de licenciados es un componente curricular obligatorio regulado formalmente en Colombia. Históricamente, su administración dependía de carpetas físicas, planillas en papel y hojas de cálculo desarticuladas, generando graves problemas de gestión: pérdida de soportes, demoras de semanas en legalizar actas, inconsistencias en el cómputo de horas y dificultades críticas para consolidar evidencias durante auditorías del Consejo Nacional de Acreditación (CNA).</a:t>
            </a:r>
          </a:p>
          <a:p>
            <a:pPr>
              <a:spcBef>
                <a:spcPts val="800"/>
              </a:spcBef>
              <a:defRPr sz="1500" b="1">
                <a:solidFill>
                  <a:srgbClr val="004B87"/>
                </a:solidFill>
                <a:latin typeface="Arial"/>
              </a:defRPr>
            </a:pPr>
            <a:r>
              <a:t>Cumplimiento del Decreto 1075 de 2015 (MEN)</a:t>
            </a:r>
          </a:p>
          <a:p>
            <a:pPr>
              <a:spcBef>
                <a:spcPts val="300"/>
              </a:spcBef>
              <a:defRPr sz="1300">
                <a:solidFill>
                  <a:srgbClr val="222222"/>
                </a:solidFill>
                <a:latin typeface="Arial"/>
              </a:defRPr>
            </a:pPr>
            <a:r>
              <a:t>El Decreto Único Reglamentario del Sector Educación 1075 de 2015 exige a las instituciones de educación superior asegurar convenios formalizados con instituciones receptoras, acompañamiento docente in situ y trazabilidad estricta de las horas formativas. SIGPRA digitaliza este marco mediante reglas de negocio que impiden legalizar prácticas sin convenio activo y condicionan la aprobación final al cumplimiento certificado de 160 horas efectivas de labor docente.</a:t>
            </a:r>
          </a:p>
          <a:p>
            <a:pPr>
              <a:spcBef>
                <a:spcPts val="800"/>
              </a:spcBef>
              <a:defRPr sz="1500" b="1">
                <a:solidFill>
                  <a:srgbClr val="004B87"/>
                </a:solidFill>
                <a:latin typeface="Arial"/>
              </a:defRPr>
            </a:pPr>
            <a:r>
              <a:t>Enfoque de Teoría General de Sistemas (TGS)</a:t>
            </a:r>
          </a:p>
          <a:p>
            <a:pPr>
              <a:spcBef>
                <a:spcPts val="300"/>
              </a:spcBef>
              <a:defRPr sz="1300">
                <a:solidFill>
                  <a:srgbClr val="222222"/>
                </a:solidFill>
                <a:latin typeface="Arial"/>
              </a:defRPr>
            </a:pPr>
            <a:r>
              <a:t>Se concibe el proceso de prácticas como un sistema abierto, dinámico e interdependiente. Cada actor (Estudiante, Tutor de Colegio, Docente Asesor UDI y Coordinación) opera como un subsistema articulado cuya retroalimentación continua garantiza la sinergia, integridad y entropía negativa en la autoevaluación del programa académico.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14356080"/>
            <a:ext cx="9701784" cy="10972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14356080"/>
            <a:ext cx="9701784" cy="502920"/>
          </a:xfrm>
          <a:prstGeom prst="round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2. OBJETIVOS DEL PROYECTO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4950440"/>
            <a:ext cx="9244584" cy="1028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04B87"/>
                </a:solidFill>
                <a:latin typeface="Arial"/>
              </a:defRPr>
            </a:pPr>
            <a:r>
              <a:t>Objetivo General</a:t>
            </a:r>
          </a:p>
          <a:p>
            <a:pPr>
              <a:spcBef>
                <a:spcPts val="300"/>
              </a:spcBef>
              <a:defRPr sz="1300">
                <a:solidFill>
                  <a:srgbClr val="222222"/>
                </a:solidFill>
                <a:latin typeface="Arial"/>
              </a:defRPr>
            </a:pPr>
            <a:r>
              <a:t>Desarrollar e implementar en la nube una plataforma web integral basada en arquitectura desacoplada y persistencia políglota que automatice, centralice y audite el 100% del ciclo de vida de las prácticas pedagógicas y académicas en la Universidad de Investigación y Desarrollo (UDI).</a:t>
            </a:r>
          </a:p>
          <a:p>
            <a:pPr>
              <a:spcBef>
                <a:spcPts val="800"/>
              </a:spcBef>
              <a:defRPr sz="1500" b="1">
                <a:solidFill>
                  <a:srgbClr val="004B87"/>
                </a:solidFill>
                <a:latin typeface="Arial"/>
              </a:defRPr>
            </a:pPr>
            <a:r>
              <a:t>Objetivos Específicos</a:t>
            </a:r>
          </a:p>
          <a:p>
            <a:pPr>
              <a:spcBef>
                <a:spcPts val="400"/>
              </a:spcBef>
              <a:defRPr sz="1250">
                <a:solidFill>
                  <a:srgbClr val="222222"/>
                </a:solidFill>
                <a:latin typeface="Arial"/>
              </a:defRPr>
            </a:pPr>
            <a:r>
              <a:t>• 1. Diseñar e implementar una Single Page Application (SPA) moderna, modular y reactiva en TypeScript y TailwindCSS con interfaces optimizadas para 4 roles operativos.</a:t>
            </a:r>
          </a:p>
          <a:p>
            <a:pPr>
              <a:spcBef>
                <a:spcPts val="400"/>
              </a:spcBef>
              <a:defRPr sz="1250">
                <a:solidFill>
                  <a:srgbClr val="222222"/>
                </a:solidFill>
                <a:latin typeface="Arial"/>
              </a:defRPr>
            </a:pPr>
            <a:r>
              <a:t>• 2. Construir una API REST escalable en Node.js/Express con seguridad basada en tokens JWT y arquitectura de controladores, servicios y repositorios desacoplados.</a:t>
            </a:r>
          </a:p>
          <a:p>
            <a:pPr>
              <a:spcBef>
                <a:spcPts val="400"/>
              </a:spcBef>
              <a:defRPr sz="1250">
                <a:solidFill>
                  <a:srgbClr val="222222"/>
                </a:solidFill>
                <a:latin typeface="Arial"/>
              </a:defRPr>
            </a:pPr>
            <a:r>
              <a:t>• 3. Estructurar una persistencia políglota combinando PostgreSQL (Neon) para integridad relacional y MongoDB (Atlas) para auditoría de bitácoras y eventos no estructurados.</a:t>
            </a:r>
          </a:p>
          <a:p>
            <a:pPr>
              <a:spcBef>
                <a:spcPts val="400"/>
              </a:spcBef>
              <a:defRPr sz="1250">
                <a:solidFill>
                  <a:srgbClr val="222222"/>
                </a:solidFill>
                <a:latin typeface="Arial"/>
              </a:defRPr>
            </a:pPr>
            <a:r>
              <a:t>• 4. Modelar y verificar formalmente los 8 Casos de Uso del dominio (CU-01 a CU-08) mediante diagramas UML estándar (Astah/PlantUML) y matrices de trazabilidad.</a:t>
            </a:r>
          </a:p>
          <a:p>
            <a:pPr>
              <a:spcBef>
                <a:spcPts val="400"/>
              </a:spcBef>
              <a:defRPr sz="1250">
                <a:solidFill>
                  <a:srgbClr val="222222"/>
                </a:solidFill>
                <a:latin typeface="Arial"/>
              </a:defRPr>
            </a:pPr>
            <a:r>
              <a:t>• 5. Desplegar la aplicación en infraestructura PaaS de nube (Render) con cifrado SSL/HTTPS y disponibilidad continua 24/7.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5694640"/>
            <a:ext cx="9701784" cy="1572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25694640"/>
            <a:ext cx="9701784" cy="502920"/>
          </a:xfrm>
          <a:prstGeom prst="round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3. METODOLOGÍA DE DESARROLLO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6289000"/>
            <a:ext cx="9244584" cy="1504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04B87"/>
                </a:solidFill>
                <a:latin typeface="Arial"/>
              </a:defRPr>
            </a:pPr>
            <a:r>
              <a:t>Enfoque de Ingeniería de Software</a:t>
            </a:r>
          </a:p>
          <a:p>
            <a:pPr>
              <a:spcBef>
                <a:spcPts val="300"/>
              </a:spcBef>
              <a:defRPr sz="1300">
                <a:solidFill>
                  <a:srgbClr val="222222"/>
                </a:solidFill>
                <a:latin typeface="Arial"/>
              </a:defRPr>
            </a:pPr>
            <a:r>
              <a:t>El desarrollo adoptó un marco iterativo e incremental que combinó la rigurosidad analítica de RUP con la flexibilidad ágil de Scrum. Se ejecutaron sprints quincenales orientados a la entrega de componentes funcionales verificables:</a:t>
            </a:r>
          </a:p>
          <a:p>
            <a:pPr>
              <a:spcBef>
                <a:spcPts val="600"/>
              </a:spcBef>
              <a:defRPr sz="1350" b="1">
                <a:solidFill>
                  <a:srgbClr val="0072CE"/>
                </a:solidFill>
                <a:latin typeface="Arial"/>
              </a:defRPr>
            </a:pPr>
            <a:r>
              <a:t>Fase 1: Análisis y Modelado Conceptual</a:t>
            </a:r>
          </a:p>
          <a:p>
            <a:pPr>
              <a:spcBef>
                <a:spcPts val="200"/>
              </a:spcBef>
              <a:defRPr sz="1250">
                <a:solidFill>
                  <a:srgbClr val="222222"/>
                </a:solidFill>
                <a:latin typeface="Arial"/>
              </a:defRPr>
            </a:pPr>
            <a:r>
              <a:t>Levantamiento de requerimientos con docentes y coordinación. Especificación de 8 Casos de Uso, diagrama de dominio y modelo entidad-relación.</a:t>
            </a:r>
          </a:p>
          <a:p>
            <a:pPr>
              <a:spcBef>
                <a:spcPts val="600"/>
              </a:spcBef>
              <a:defRPr sz="1350" b="1">
                <a:solidFill>
                  <a:srgbClr val="0072CE"/>
                </a:solidFill>
                <a:latin typeface="Arial"/>
              </a:defRPr>
            </a:pPr>
            <a:r>
              <a:t>Fase 2: Diseño de Arquitectura Políglota</a:t>
            </a:r>
          </a:p>
          <a:p>
            <a:pPr>
              <a:spcBef>
                <a:spcPts val="200"/>
              </a:spcBef>
              <a:defRPr sz="1250">
                <a:solidFill>
                  <a:srgbClr val="222222"/>
                </a:solidFill>
                <a:latin typeface="Arial"/>
              </a:defRPr>
            </a:pPr>
            <a:r>
              <a:t>Definición de capas cliente-servidor, esquemas relacionales en PostgreSQL (12 tablas), colecciones MongoDB y contratos de endpoints REST.</a:t>
            </a:r>
          </a:p>
          <a:p>
            <a:pPr>
              <a:spcBef>
                <a:spcPts val="600"/>
              </a:spcBef>
              <a:defRPr sz="1350" b="1">
                <a:solidFill>
                  <a:srgbClr val="0072CE"/>
                </a:solidFill>
                <a:latin typeface="Arial"/>
              </a:defRPr>
            </a:pPr>
            <a:r>
              <a:t>Fase 3: Implementación Fullstack</a:t>
            </a:r>
          </a:p>
          <a:p>
            <a:pPr>
              <a:spcBef>
                <a:spcPts val="200"/>
              </a:spcBef>
              <a:defRPr sz="1250">
                <a:solidFill>
                  <a:srgbClr val="222222"/>
                </a:solidFill>
                <a:latin typeface="Arial"/>
              </a:defRPr>
            </a:pPr>
            <a:r>
              <a:t>Construcción de componentes SPA reactivos, servicios TypeScript, enrutamiento, validaciones frontend/backend y lógica de negocio.</a:t>
            </a:r>
          </a:p>
          <a:p>
            <a:pPr>
              <a:spcBef>
                <a:spcPts val="600"/>
              </a:spcBef>
              <a:defRPr sz="1350" b="1">
                <a:solidFill>
                  <a:srgbClr val="0072CE"/>
                </a:solidFill>
                <a:latin typeface="Arial"/>
              </a:defRPr>
            </a:pPr>
            <a:r>
              <a:t>Fase 4: Verificación y Pruebas</a:t>
            </a:r>
          </a:p>
          <a:p>
            <a:pPr>
              <a:spcBef>
                <a:spcPts val="200"/>
              </a:spcBef>
              <a:defRPr sz="1250">
                <a:solidFill>
                  <a:srgbClr val="222222"/>
                </a:solidFill>
                <a:latin typeface="Arial"/>
              </a:defRPr>
            </a:pPr>
            <a:r>
              <a:t>Pruebas de caja negra sobre casos de uso, pruebas transaccionales ACID, auditoría de seguridad y validación de cómputo de horas.</a:t>
            </a:r>
          </a:p>
          <a:p>
            <a:pPr>
              <a:spcBef>
                <a:spcPts val="600"/>
              </a:spcBef>
              <a:defRPr sz="1350" b="1">
                <a:solidFill>
                  <a:srgbClr val="0072CE"/>
                </a:solidFill>
                <a:latin typeface="Arial"/>
              </a:defRPr>
            </a:pPr>
            <a:r>
              <a:t>Fase 5: Despliegue Cloud y CI/CD</a:t>
            </a:r>
          </a:p>
          <a:p>
            <a:pPr>
              <a:spcBef>
                <a:spcPts val="200"/>
              </a:spcBef>
              <a:defRPr sz="1250">
                <a:solidFill>
                  <a:srgbClr val="222222"/>
                </a:solidFill>
                <a:latin typeface="Arial"/>
              </a:defRPr>
            </a:pPr>
            <a:r>
              <a:t>Contenerización, orquestación de bases de datos distribuidas y puesta en producción en PaaS Render con monitoreo en vivo.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47704" y="5029200"/>
            <a:ext cx="9701784" cy="1325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347704" y="5029200"/>
            <a:ext cx="9701784" cy="502920"/>
          </a:xfrm>
          <a:prstGeom prst="round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4. ARQUITECTURA Y COMPONENTES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76304" y="5623560"/>
            <a:ext cx="9244584" cy="1257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04B87"/>
                </a:solidFill>
                <a:latin typeface="Arial"/>
              </a:defRPr>
            </a:pPr>
            <a:r>
              <a:t>Arquitectura Desacoplada y Persistencia Políglota</a:t>
            </a:r>
          </a:p>
          <a:p>
            <a:pPr>
              <a:spcBef>
                <a:spcPts val="300"/>
              </a:spcBef>
              <a:defRPr sz="1300">
                <a:solidFill>
                  <a:srgbClr val="222222"/>
                </a:solidFill>
                <a:latin typeface="Arial"/>
              </a:defRPr>
            </a:pPr>
            <a:r>
              <a:t>El sistema adopta el patrón de capas desacopladas (Controller - Service - Repository). La SPA reactiva consume servicios REST asíncronos mediante fetch/axios. La persistencia híbrida asigna a PostgreSQL la integridad de entidades maestras (Estudiantes, Convenios, Asignaciones, Calificaciones) y a MongoDB el almacenamiento de bitácoras y registros de auditoría no estructurados.</a:t>
            </a:r>
          </a:p>
        </p:txBody>
      </p:sp>
      <p:pic>
        <p:nvPicPr>
          <p:cNvPr id="21" name="Picture 20" descr="Diagrama_Componentes_SIGP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64" y="7406640"/>
            <a:ext cx="8961120" cy="28427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713464" y="17465040"/>
            <a:ext cx="89611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150" i="1">
                <a:solidFill>
                  <a:srgbClr val="646464"/>
                </a:solidFill>
                <a:latin typeface="Arial"/>
              </a:defRPr>
            </a:pPr>
            <a:r>
              <a:t>Figura 1. Diagrama de Componentes de SIGPRA: Capas SPA, API REST y Persistencia Híbrida.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347704" y="18653760"/>
            <a:ext cx="9701784" cy="10789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347704" y="18653760"/>
            <a:ext cx="9701784" cy="502920"/>
          </a:xfrm>
          <a:prstGeom prst="round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5. FLUJO OPERATIVO DE CASOS DE USO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76304" y="19248120"/>
            <a:ext cx="9244584" cy="10104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04B87"/>
                </a:solidFill>
                <a:latin typeface="Arial"/>
              </a:defRPr>
            </a:pPr>
            <a:r>
              <a:t>Ciclo de Vida Integral de la Práctica (CU-01 a CU-08)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11622024" y="19842480"/>
          <a:ext cx="9144000" cy="896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389120"/>
                <a:gridCol w="3474720"/>
              </a:tblGrid>
              <a:tr h="995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Caso</a:t>
                      </a:r>
                    </a:p>
                  </a:txBody>
                  <a:tcPr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Nombre y Propósito</a:t>
                      </a:r>
                    </a:p>
                  </a:txBody>
                  <a:tcPr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Actor Principal</a:t>
                      </a:r>
                    </a:p>
                  </a:txBody>
                  <a:tcPr>
                    <a:solidFill>
                      <a:srgbClr val="004B87"/>
                    </a:solidFill>
                  </a:tcPr>
                </a:tc>
              </a:tr>
              <a:tr h="995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CU-08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Solicitud y Registro de Practicante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Estudiante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995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CU-01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Gestión de Periodos y Convocatorias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Coordinador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5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CU-02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Gestión de Convenios y Plazas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Coordinador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995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CU-03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Asignación de Plazas y Docentes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Coordinador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5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CU-04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Registro Semanal de Bitácoras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Estudiante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995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CU-05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Validación y Aprobación de Bitácoras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Tutor Institucional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5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CU-06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Visitas Formativas y Rúbrica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Docente Asesor UDI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995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CU-07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Consolidación Final y Reportes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Coordinador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11347704" y="29809440"/>
            <a:ext cx="9701784" cy="1197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347704" y="29809440"/>
            <a:ext cx="9701784" cy="502920"/>
          </a:xfrm>
          <a:prstGeom prst="round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6. INTERFACES DEL PROTOTIPO WEB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76304" y="30403800"/>
            <a:ext cx="9244584" cy="11292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04B87"/>
                </a:solidFill>
                <a:latin typeface="Arial"/>
              </a:defRPr>
            </a:pPr>
            <a:r>
              <a:t>Experiencia de Usuario SPA Reactiva</a:t>
            </a:r>
          </a:p>
          <a:p>
            <a:pPr>
              <a:spcBef>
                <a:spcPts val="200"/>
              </a:spcBef>
              <a:defRPr sz="1250">
                <a:solidFill>
                  <a:srgbClr val="222222"/>
                </a:solidFill>
                <a:latin typeface="Arial"/>
              </a:defRPr>
            </a:pPr>
            <a:r>
              <a:t>Vistas implementadas con diseño responsive, microinteracciones, validación en caliente y retroalimentación inmediata en producción sobre Render (https://sigpra-udi.onrender.com):</a:t>
            </a:r>
          </a:p>
        </p:txBody>
      </p:sp>
      <p:pic>
        <p:nvPicPr>
          <p:cNvPr id="30" name="Picture 29" descr="CU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3464" y="31455360"/>
            <a:ext cx="4297680" cy="2686050"/>
          </a:xfrm>
          <a:prstGeom prst="rect">
            <a:avLst/>
          </a:prstGeom>
        </p:spPr>
      </p:pic>
      <p:pic>
        <p:nvPicPr>
          <p:cNvPr id="31" name="Picture 30" descr="CU-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76904" y="31455360"/>
            <a:ext cx="4297680" cy="2686050"/>
          </a:xfrm>
          <a:prstGeom prst="rect">
            <a:avLst/>
          </a:prstGeom>
        </p:spPr>
      </p:pic>
      <p:pic>
        <p:nvPicPr>
          <p:cNvPr id="32" name="Picture 31" descr="CU-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13464" y="35387280"/>
            <a:ext cx="4297680" cy="2686050"/>
          </a:xfrm>
          <a:prstGeom prst="rect">
            <a:avLst/>
          </a:prstGeom>
        </p:spPr>
      </p:pic>
      <p:pic>
        <p:nvPicPr>
          <p:cNvPr id="33" name="Picture 32" descr="CU-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76904" y="35387280"/>
            <a:ext cx="4297680" cy="26860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713464" y="34747200"/>
            <a:ext cx="42976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100" b="1">
                <a:solidFill>
                  <a:srgbClr val="004B87"/>
                </a:solidFill>
                <a:latin typeface="Arial"/>
              </a:defRPr>
            </a:pPr>
            <a:r>
              <a:t>Panel Coordinador (CU-01)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376904" y="34747200"/>
            <a:ext cx="42976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100" b="1">
                <a:solidFill>
                  <a:srgbClr val="004B87"/>
                </a:solidFill>
                <a:latin typeface="Arial"/>
              </a:defRPr>
            </a:pPr>
            <a:r>
              <a:t>Asignación de Plazas (CU-03)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13464" y="38679120"/>
            <a:ext cx="42976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100" b="1">
                <a:solidFill>
                  <a:srgbClr val="004B87"/>
                </a:solidFill>
                <a:latin typeface="Arial"/>
              </a:defRPr>
            </a:pPr>
            <a:r>
              <a:t>Bitácoras Estudiante (CU-04)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376904" y="38679120"/>
            <a:ext cx="42976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100" b="1">
                <a:solidFill>
                  <a:srgbClr val="004B87"/>
                </a:solidFill>
                <a:latin typeface="Arial"/>
              </a:defRPr>
            </a:pPr>
            <a:r>
              <a:t>Evaluación Docente (CU-06)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781008" y="5029200"/>
            <a:ext cx="9701784" cy="1325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1781008" y="5029200"/>
            <a:ext cx="9701784" cy="502920"/>
          </a:xfrm>
          <a:prstGeom prst="round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7. RESULTADOS Y DESPLIEGUE CLOUD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009608" y="5623560"/>
            <a:ext cx="9244584" cy="1257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04B87"/>
                </a:solidFill>
                <a:latin typeface="Arial"/>
              </a:defRPr>
            </a:pPr>
            <a:r>
              <a:t>Validación Experimental y Métricas Técnicas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22055328" y="6217920"/>
          <a:ext cx="9144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108960"/>
                <a:gridCol w="310896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Indicador / Métrica</a:t>
                      </a:r>
                    </a:p>
                  </a:txBody>
                  <a:tcPr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 Medido</a:t>
                      </a:r>
                    </a:p>
                  </a:txBody>
                  <a:tcPr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Impacto Obtenido</a:t>
                      </a:r>
                    </a:p>
                  </a:txBody>
                  <a:tcPr>
                    <a:solidFill>
                      <a:srgbClr val="004B8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Tiempo resp. API REST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&lt; 420 ms (promedio)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Alta fluidez interactiva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Disponibilidad Render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99.8% Uptime con SSL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Acceso permanente 24/7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Cobertura Casos Uso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100% (8 de 8 operativos)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Ciclo normativo cubierto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Reducción de tiempos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85% ahorro administrativo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Eliminación de rezago físico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Integridad de datos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100% ACID + NoSQL log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Cero pérdida de evidencias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pic>
        <p:nvPicPr>
          <p:cNvPr id="42" name="Picture 41" descr="Diagrama_Despliegue_SIGPR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46768" y="10332720"/>
            <a:ext cx="8961120" cy="481255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2146768" y="17465040"/>
            <a:ext cx="89611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150" i="1">
                <a:solidFill>
                  <a:srgbClr val="646464"/>
                </a:solidFill>
                <a:latin typeface="Arial"/>
              </a:defRPr>
            </a:pPr>
            <a:r>
              <a:t>Figura 2. Diagrama de Despliegue en la Nube (PaaS Render, PostgreSQL Neon y MongoDB Atlas).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781008" y="18653760"/>
            <a:ext cx="9701784" cy="8412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1781008" y="18653760"/>
            <a:ext cx="9701784" cy="502920"/>
          </a:xfrm>
          <a:prstGeom prst="round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8. CONCLUSIONES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009608" y="19248120"/>
            <a:ext cx="9244584" cy="7726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  <a:defRPr sz="1250">
                <a:solidFill>
                  <a:srgbClr val="222222"/>
                </a:solidFill>
                <a:latin typeface="Arial"/>
              </a:defRPr>
            </a:pPr>
            <a:r>
              <a:t>• 1. Transformación Digital Normativa: SIGPRA garantiza el cumplimiento estricto del Decreto 1075 de 2015 del MEN, eliminando la pérdida de soportes físicos y reduciendo los tiempos de legalización de semanas a minutos.</a:t>
            </a:r>
          </a:p>
          <a:p>
            <a:pPr>
              <a:spcBef>
                <a:spcPts val="500"/>
              </a:spcBef>
              <a:defRPr sz="1250">
                <a:solidFill>
                  <a:srgbClr val="222222"/>
                </a:solidFill>
                <a:latin typeface="Arial"/>
              </a:defRPr>
            </a:pPr>
            <a:r>
              <a:t>• 2. Eficacia de la Persistencia Híbrida: La combinación de PostgreSQL (modelo relacional de 12 tablas para control transaccional) y MongoDB (almacenamiento documental para bitácoras y trazabilidad) demostró ser una solución óptima para sistemas académicos de alta auditoría.</a:t>
            </a:r>
          </a:p>
          <a:p>
            <a:pPr>
              <a:spcBef>
                <a:spcPts val="500"/>
              </a:spcBef>
              <a:defRPr sz="1250">
                <a:solidFill>
                  <a:srgbClr val="222222"/>
                </a:solidFill>
                <a:latin typeface="Arial"/>
              </a:defRPr>
            </a:pPr>
            <a:r>
              <a:t>• 3. Accesibilidad y Escalabilidad Cloud: El despliegue de la arquitectura desacoplada en PaaS Render asegura disponibilidad continua 24/7 con cifrado SSL/TLS, permitiendo el uso concurrente sin degradación del servicio.</a:t>
            </a:r>
          </a:p>
          <a:p>
            <a:pPr>
              <a:spcBef>
                <a:spcPts val="500"/>
              </a:spcBef>
              <a:defRPr sz="1250">
                <a:solidFill>
                  <a:srgbClr val="222222"/>
                </a:solidFill>
                <a:latin typeface="Arial"/>
              </a:defRPr>
            </a:pPr>
            <a:r>
              <a:t>• 4. Integración Curricular Exitosa: El proyecto consolidó competencias avanzadas de Ingeniería del Software II (modelado UML y especificación IEEE), Programación III (desarrollo fullstack modular) y Teoría General de Sistemas (visión holística de procesos universitarios).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781008" y="27432000"/>
            <a:ext cx="9701784" cy="1435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1781008" y="27432000"/>
            <a:ext cx="9701784" cy="502920"/>
          </a:xfrm>
          <a:prstGeom prst="round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9. REFERENCIAS Y ACCESO A LA PLATAFORMA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009608" y="28026360"/>
            <a:ext cx="9244584" cy="136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04B87"/>
                </a:solidFill>
                <a:latin typeface="Arial"/>
              </a:defRPr>
            </a:pPr>
            <a:r>
              <a:t>Referencias Bibliográficas</a:t>
            </a:r>
          </a:p>
          <a:p>
            <a:pPr>
              <a:spcBef>
                <a:spcPts val="300"/>
              </a:spcBef>
              <a:defRPr sz="1100">
                <a:solidFill>
                  <a:srgbClr val="646464"/>
                </a:solidFill>
                <a:latin typeface="Arial"/>
              </a:defRPr>
            </a:pPr>
            <a:r>
              <a:t>[1] Ministerio de Educación Nacional de Colombia, «Decreto 1075 de 2015 - Sector Educación», Bogotá, 2015.</a:t>
            </a:r>
          </a:p>
          <a:p>
            <a:pPr>
              <a:spcBef>
                <a:spcPts val="300"/>
              </a:spcBef>
              <a:defRPr sz="1100">
                <a:solidFill>
                  <a:srgbClr val="646464"/>
                </a:solidFill>
                <a:latin typeface="Arial"/>
              </a:defRPr>
            </a:pPr>
            <a:r>
              <a:t>[2] I. Sommerville, Software Engineering, 10th ed. Boston: Pearson, 2016.</a:t>
            </a:r>
          </a:p>
          <a:p>
            <a:pPr>
              <a:spcBef>
                <a:spcPts val="300"/>
              </a:spcBef>
              <a:defRPr sz="1100">
                <a:solidFill>
                  <a:srgbClr val="646464"/>
                </a:solidFill>
                <a:latin typeface="Arial"/>
              </a:defRPr>
            </a:pPr>
            <a:r>
              <a:t>[3] R. S. Pressman y B. R. Maxim, Software Engineering: A Practitioner's Approach, 9th ed. McGraw-Hill, 2020.</a:t>
            </a:r>
          </a:p>
          <a:p>
            <a:pPr>
              <a:spcBef>
                <a:spcPts val="300"/>
              </a:spcBef>
              <a:defRPr sz="1100">
                <a:solidFill>
                  <a:srgbClr val="646464"/>
                </a:solidFill>
                <a:latin typeface="Arial"/>
              </a:defRPr>
            </a:pPr>
            <a:r>
              <a:t>[4] M. Fowler, Refactoring: Improving the Design of Existing Code, 2nd ed. Addison-Wesley, 2018.</a:t>
            </a:r>
          </a:p>
          <a:p>
            <a:pPr>
              <a:spcBef>
                <a:spcPts val="1000"/>
              </a:spcBef>
              <a:defRPr sz="1500" b="1">
                <a:solidFill>
                  <a:srgbClr val="004B87"/>
                </a:solidFill>
                <a:latin typeface="Arial"/>
              </a:defRPr>
            </a:pPr>
            <a:r>
              <a:t>Acceso a la Plataforma en Producción</a:t>
            </a:r>
          </a:p>
          <a:p>
            <a:pPr>
              <a:spcBef>
                <a:spcPts val="200"/>
              </a:spcBef>
              <a:defRPr sz="1200">
                <a:solidFill>
                  <a:srgbClr val="222222"/>
                </a:solidFill>
                <a:latin typeface="Arial"/>
              </a:defRPr>
            </a:pPr>
            <a:r>
              <a:t>Escanee el código QR o acceda mediante el enlace para ingresar al entorno funcional en la nube:</a:t>
            </a:r>
          </a:p>
        </p:txBody>
      </p:sp>
      <p:pic>
        <p:nvPicPr>
          <p:cNvPr id="50" name="Picture 49" descr="qr_sigpr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238208" y="34747200"/>
            <a:ext cx="3474720" cy="34747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5987248" y="347472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04B87"/>
                </a:solidFill>
                <a:latin typeface="Arial"/>
              </a:defRPr>
            </a:pPr>
            <a:r>
              <a:t>URL PÚBLICA EN PRODUCCIÓN:</a:t>
            </a:r>
          </a:p>
          <a:p>
            <a:pPr>
              <a:spcBef>
                <a:spcPts val="200"/>
              </a:spcBef>
              <a:defRPr sz="1300" b="1">
                <a:solidFill>
                  <a:srgbClr val="0072CE"/>
                </a:solidFill>
                <a:latin typeface="Arial"/>
              </a:defRPr>
            </a:pPr>
            <a:r>
              <a:t>https://sigpra-udi.onrender.com</a:t>
            </a:r>
          </a:p>
          <a:p>
            <a:pPr>
              <a:spcBef>
                <a:spcPts val="800"/>
              </a:spcBef>
              <a:defRPr sz="1200" b="1">
                <a:solidFill>
                  <a:srgbClr val="004B87"/>
                </a:solidFill>
                <a:latin typeface="Arial"/>
              </a:defRPr>
            </a:pPr>
            <a:r>
              <a:t>REPOSITORIO EN GITHUB:</a:t>
            </a:r>
          </a:p>
          <a:p>
            <a:pPr>
              <a:spcBef>
                <a:spcPts val="200"/>
              </a:spcBef>
              <a:defRPr sz="1200">
                <a:solidFill>
                  <a:srgbClr val="222222"/>
                </a:solidFill>
                <a:latin typeface="Arial"/>
              </a:defRPr>
            </a:pPr>
            <a:r>
              <a:t>github.com/rcarreno4-dot/Proyecto-integrador-5</a:t>
            </a:r>
          </a:p>
          <a:p>
            <a:pPr>
              <a:spcBef>
                <a:spcPts val="800"/>
              </a:spcBef>
              <a:defRPr sz="1150">
                <a:solidFill>
                  <a:srgbClr val="646464"/>
                </a:solidFill>
                <a:latin typeface="Arial"/>
              </a:defRPr>
            </a:pPr>
            <a:r>
              <a:t>CREDENCIALES DE EVALUACIÓN:</a:t>
            </a:r>
            <a:br/>
            <a:r>
              <a:t>• Coordinador: coord@udi.edu.co / 123456</a:t>
            </a:r>
            <a:br/>
            <a:r>
              <a:t>• Estudiante: jobixiita@gmail.com / 123456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2245280"/>
            <a:ext cx="32399935" cy="954633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UNIVERSIDAD DE INVESTIGACIÓN Y DESARROLLO (UDI)  ·  FACULTAD DE INGENIERÍAS  ·  INGENIERÍA DE SISTEMAS</a:t>
            </a:r>
          </a:p>
          <a:p>
            <a:pPr algn="ctr">
              <a:spcBef>
                <a:spcPts val="300"/>
              </a:spcBef>
              <a:defRPr sz="1300">
                <a:solidFill>
                  <a:srgbClr val="F5A800"/>
                </a:solidFill>
                <a:latin typeface="Arial"/>
              </a:defRPr>
            </a:pPr>
            <a:r>
              <a:t>PROYECTO INTEGRADOR V  ·  BUCARAMANGA, COLOMBIA  ·  NOVIEMBRE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